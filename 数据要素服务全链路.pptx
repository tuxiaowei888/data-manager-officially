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274320" cy="6858000"/>
          </a:xfrm>
          <a:prstGeom prst="rect">
            <a:avLst/>
          </a:prstGeom>
          <a:solidFill>
            <a:srgbClr val="00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数据要素服务全链路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8FF"/>
                </a:solidFill>
              </a:defRPr>
            </a:pPr>
            <a:r>
              <a:t>一站式数据价值化解决方案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286000"/>
            <a:ext cx="1645920" cy="914400"/>
          </a:xfrm>
          <a:prstGeom prst="roundRect">
            <a:avLst/>
          </a:prstGeom>
          <a:solidFill>
            <a:srgbClr val="0096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数据盘点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基础梳理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74720" y="2606040"/>
            <a:ext cx="640080" cy="274320"/>
          </a:xfrm>
          <a:prstGeom prst="rightArrow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2286000"/>
            <a:ext cx="1645920" cy="914400"/>
          </a:xfrm>
          <a:prstGeom prst="roundRect">
            <a:avLst/>
          </a:prstGeom>
          <a:solidFill>
            <a:srgbClr val="00C8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数据治理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432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质量提升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60720" y="2606040"/>
            <a:ext cx="640080" cy="274320"/>
          </a:xfrm>
          <a:prstGeom prst="rightArrow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1645920" cy="914400"/>
          </a:xfrm>
          <a:prstGeom prst="roundRect">
            <a:avLst/>
          </a:prstGeom>
          <a:solidFill>
            <a:srgbClr val="FFC8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23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数据合规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合规评估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400800" y="3200400"/>
            <a:ext cx="822960.0" cy="731520"/>
          </a:xfrm>
          <a:prstGeom prst="bentConnector3">
            <a:avLst/>
          </a:prstGeom>
          <a:ln w="381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23760.0" y="3200400"/>
            <a:ext cx="1280160.0" cy="731520"/>
          </a:xfrm>
          <a:prstGeom prst="bentConnector3">
            <a:avLst/>
          </a:prstGeom>
          <a:ln w="381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94960" y="3931920"/>
            <a:ext cx="2011680" cy="1005840"/>
          </a:xfrm>
          <a:prstGeom prst="roundRect">
            <a:avLst/>
          </a:prstGeom>
          <a:solidFill>
            <a:srgbClr val="00B4D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4069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登记确权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3891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官方登记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931920"/>
            <a:ext cx="2011680" cy="1005840"/>
          </a:xfrm>
          <a:prstGeom prst="roundRect">
            <a:avLst/>
          </a:prstGeom>
          <a:solidFill>
            <a:srgbClr val="00B4D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069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协议确权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891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合同约定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760720" y="4937760"/>
            <a:ext cx="274320" cy="548640"/>
          </a:xfrm>
          <a:prstGeom prst="downArrow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412480" y="4937760"/>
            <a:ext cx="274320" cy="548640"/>
          </a:xfrm>
          <a:prstGeom prst="downArrow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08960" y="5486400"/>
            <a:ext cx="1463040" cy="822960"/>
          </a:xfrm>
          <a:prstGeom prst="roundRect">
            <a:avLst/>
          </a:prstGeom>
          <a:solidFill>
            <a:srgbClr val="00DC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56235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融资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943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质押贷款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5486400"/>
            <a:ext cx="1463040" cy="822960"/>
          </a:xfrm>
          <a:prstGeom prst="roundRect">
            <a:avLst/>
          </a:prstGeom>
          <a:solidFill>
            <a:srgbClr val="00DC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56235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入表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943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资产入表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486400"/>
            <a:ext cx="1463040" cy="822960"/>
          </a:xfrm>
          <a:prstGeom prst="roundRect">
            <a:avLst/>
          </a:prstGeom>
          <a:solidFill>
            <a:srgbClr val="00DC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6235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授权交易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流通变现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5486400"/>
            <a:ext cx="1463040" cy="822960"/>
          </a:xfrm>
          <a:prstGeom prst="roundRect">
            <a:avLst/>
          </a:prstGeom>
          <a:solidFill>
            <a:srgbClr val="00DC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56235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作价入股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943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8DCFF"/>
                </a:solidFill>
              </a:defRPr>
            </a:pPr>
            <a:r>
              <a:t>资本运作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114800"/>
            <a:ext cx="3657600" cy="2286000"/>
          </a:xfrm>
          <a:prstGeom prst="roundRect">
            <a:avLst/>
          </a:prstGeom>
          <a:solidFill>
            <a:srgbClr val="142846"/>
          </a:solidFill>
          <a:ln w="254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42976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C800"/>
                </a:solidFill>
              </a:defRPr>
            </a:pPr>
            <a:r>
              <a:t>★ 核心能力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7548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8DCFF"/>
                </a:solidFill>
              </a:defRPr>
            </a:pPr>
            <a:r>
              <a:t>• 全链路咨询服务</a:t>
            </a:r>
          </a:p>
          <a:p>
            <a:pPr>
              <a:spcAft>
                <a:spcPts val="600"/>
              </a:spcAft>
              <a:defRPr sz="1300">
                <a:solidFill>
                  <a:srgbClr val="C8DCFF"/>
                </a:solidFill>
              </a:defRPr>
            </a:pPr>
            <a:r>
              <a:t>• 一站式解决方案</a:t>
            </a:r>
          </a:p>
          <a:p>
            <a:pPr>
              <a:spcAft>
                <a:spcPts val="600"/>
              </a:spcAft>
              <a:defRPr sz="1300">
                <a:solidFill>
                  <a:srgbClr val="C8DCFF"/>
                </a:solidFill>
              </a:defRPr>
            </a:pPr>
            <a:r>
              <a:t>• 专业团队支持</a:t>
            </a:r>
          </a:p>
          <a:p>
            <a:pPr>
              <a:spcAft>
                <a:spcPts val="600"/>
              </a:spcAft>
              <a:defRPr sz="1300">
                <a:solidFill>
                  <a:srgbClr val="C8DCFF"/>
                </a:solidFill>
              </a:defRPr>
            </a:pPr>
            <a:r>
              <a:t>• 成功案例丰富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5775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AAC8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